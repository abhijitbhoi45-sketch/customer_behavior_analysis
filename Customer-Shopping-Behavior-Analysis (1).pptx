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ter" panose="020B0604020202020204" charset="0"/>
      <p:regular r:id="rId13"/>
    </p:embeddedFont>
    <p:embeddedFont>
      <p:font typeface="Inter Light" panose="020B0604020202020204" charset="0"/>
      <p:regular r:id="rId14"/>
    </p:embeddedFont>
    <p:embeddedFont>
      <p:font typeface="Manrope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6433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3,900 purchases • 18 features • Aim: uncover spending patterns, segments, product &amp; subscription insights</a:t>
            </a:r>
            <a:endParaRPr lang="en-US" sz="11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9F1F36-07AC-76D4-267F-ABA92D7B8258}"/>
              </a:ext>
            </a:extLst>
          </p:cNvPr>
          <p:cNvSpPr/>
          <p:nvPr/>
        </p:nvSpPr>
        <p:spPr>
          <a:xfrm>
            <a:off x="8025618" y="4832252"/>
            <a:ext cx="1048044" cy="3042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3714"/>
            <a:ext cx="4722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Snapshot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96119" y="1065833"/>
            <a:ext cx="4722763" cy="810444"/>
          </a:xfrm>
          <a:prstGeom prst="roundRect">
            <a:avLst>
              <a:gd name="adj" fmla="val 15497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407" y="1210121"/>
            <a:ext cx="443418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Rows / Columns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0407" y="1510531"/>
            <a:ext cx="44341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3,900 rows • 18 columns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96119" y="2013645"/>
            <a:ext cx="4722763" cy="810444"/>
          </a:xfrm>
          <a:prstGeom prst="roundRect">
            <a:avLst>
              <a:gd name="adj" fmla="val 15497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407" y="2157933"/>
            <a:ext cx="443418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0407" y="2458343"/>
            <a:ext cx="44341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Demographics, Purchase details, Behavior flags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96119" y="2961456"/>
            <a:ext cx="4722763" cy="810444"/>
          </a:xfrm>
          <a:prstGeom prst="roundRect">
            <a:avLst>
              <a:gd name="adj" fmla="val 15497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407" y="3105745"/>
            <a:ext cx="443418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Data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0407" y="3406155"/>
            <a:ext cx="44341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37 values in Review Rating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96119" y="3909268"/>
            <a:ext cx="4722763" cy="810444"/>
          </a:xfrm>
          <a:prstGeom prst="roundRect">
            <a:avLst>
              <a:gd name="adj" fmla="val 15497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407" y="4053557"/>
            <a:ext cx="443418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Purchase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0407" y="4353967"/>
            <a:ext cx="44341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$59.76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0004"/>
            <a:ext cx="4722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Prep &amp; Cleaning (Python)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3925119" y="966043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925119" y="1170087"/>
            <a:ext cx="4722763" cy="14288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6" name="Text 3"/>
          <p:cNvSpPr/>
          <p:nvPr/>
        </p:nvSpPr>
        <p:spPr>
          <a:xfrm>
            <a:off x="3925119" y="1262881"/>
            <a:ext cx="472276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&amp; Inspect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925119" y="1533376"/>
            <a:ext cx="47227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pandas: df.info(), .describe()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925119" y="1941984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925119" y="2146027"/>
            <a:ext cx="4722763" cy="14288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10" name="Text 7"/>
          <p:cNvSpPr/>
          <p:nvPr/>
        </p:nvSpPr>
        <p:spPr>
          <a:xfrm>
            <a:off x="3925119" y="2238821"/>
            <a:ext cx="472276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Impute Missing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925119" y="2509317"/>
            <a:ext cx="47227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Review Rating → median per product category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925119" y="2917924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925119" y="3121968"/>
            <a:ext cx="4722763" cy="14288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14" name="Text 11"/>
          <p:cNvSpPr/>
          <p:nvPr/>
        </p:nvSpPr>
        <p:spPr>
          <a:xfrm>
            <a:off x="3925119" y="3214762"/>
            <a:ext cx="472276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925119" y="3485257"/>
            <a:ext cx="47227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Rename columns to snake_case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925119" y="3893865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925119" y="4097908"/>
            <a:ext cx="4722763" cy="14288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18" name="Text 15"/>
          <p:cNvSpPr/>
          <p:nvPr/>
        </p:nvSpPr>
        <p:spPr>
          <a:xfrm>
            <a:off x="3925119" y="4190702"/>
            <a:ext cx="472276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Eng.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925119" y="4461197"/>
            <a:ext cx="47227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age_grouped, purchase_frequency_days</a:t>
            </a:r>
            <a:endParaRPr lang="en-US" sz="1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21046C-930A-4789-F5AA-E03371676A51}"/>
              </a:ext>
            </a:extLst>
          </p:cNvPr>
          <p:cNvSpPr/>
          <p:nvPr/>
        </p:nvSpPr>
        <p:spPr>
          <a:xfrm>
            <a:off x="7983415" y="4783015"/>
            <a:ext cx="1160585" cy="3534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Integration &amp; SQL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2146474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74988" y="2509689"/>
            <a:ext cx="56347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Cleaned DataFrame → PostgreSQL for SQL analysis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474988" y="2878262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474988" y="3241477"/>
            <a:ext cx="5177582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Dropped redundant promo_code_used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Verified discount_applied consistency</a:t>
            </a:r>
            <a:endParaRPr lang="en-US" sz="1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95D1E6-1A0F-342C-84BF-2CFC7A9F4914}"/>
              </a:ext>
            </a:extLst>
          </p:cNvPr>
          <p:cNvSpPr/>
          <p:nvPr/>
        </p:nvSpPr>
        <p:spPr>
          <a:xfrm>
            <a:off x="7955280" y="4761914"/>
            <a:ext cx="1154490" cy="381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2328"/>
            <a:ext cx="4722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High-level SQL Findings</a:t>
            </a:r>
            <a:endParaRPr lang="en-US" sz="2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054447"/>
            <a:ext cx="348853" cy="34885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6119" y="1574974"/>
            <a:ext cx="472276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by Gender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96119" y="1875383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Male: 157,890 • Female: 75,191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371576"/>
            <a:ext cx="348853" cy="34885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6119" y="2892103"/>
            <a:ext cx="472276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High-Spend Discount Users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96119" y="3192512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Identified customers spending &gt; average while using discounts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688705"/>
            <a:ext cx="348853" cy="34885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6119" y="4209231"/>
            <a:ext cx="472276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Rated Items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96119" y="4509641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Gloves, Sandals, Boots, Hat, Skirt (top avg ratings)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&amp; Category Insights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2245668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by Category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74988" y="2608883"/>
            <a:ext cx="56347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Clothing: 1,737 • Accessories: 1,240 • Footwear: 599 • Outerwear: 324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474988" y="2977455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by Category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474988" y="3340671"/>
            <a:ext cx="56347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Clothing: $104K • Accessories: $74K • Footwear: $36K • Outerwear: $19K</a:t>
            </a:r>
            <a:endParaRPr lang="en-US" sz="1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0B0703-D159-9F26-A5E7-B869DC415E3E}"/>
              </a:ext>
            </a:extLst>
          </p:cNvPr>
          <p:cNvSpPr/>
          <p:nvPr/>
        </p:nvSpPr>
        <p:spPr>
          <a:xfrm>
            <a:off x="7948246" y="4790049"/>
            <a:ext cx="1195754" cy="3464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4424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Segments &amp; Behavior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270745"/>
            <a:ext cx="753740" cy="9421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7038" y="2270745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427038" y="2577257"/>
            <a:ext cx="166821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3,116 customers — largest segment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2270745"/>
            <a:ext cx="753740" cy="9421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03353" y="2270745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Returning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203353" y="2577257"/>
            <a:ext cx="166821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701 customers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2270745"/>
            <a:ext cx="753740" cy="9421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79667" y="2270745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979667" y="2577257"/>
            <a:ext cx="166821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83 customers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96119" y="337237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Subscription split: Yes 27% • No 73%</a:t>
            </a:r>
            <a:endParaRPr lang="en-US" sz="11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12F2AF-2E6D-1079-0809-9003C99E9E71}"/>
              </a:ext>
            </a:extLst>
          </p:cNvPr>
          <p:cNvSpPr/>
          <p:nvPr/>
        </p:nvSpPr>
        <p:spPr>
          <a:xfrm>
            <a:off x="7962314" y="4797083"/>
            <a:ext cx="1181686" cy="3393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Behavioral Comparisons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Shipping Impact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Express users spend marginally more than Standard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20890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Buyers &amp; Subscriptions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2572122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Repeat buyers (&gt;5 purchases): more likely to subscribe (958 yes vs 2,518 no)</a:t>
            </a:r>
            <a:endParaRPr lang="en-US" sz="1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D9F0DC-EE75-B96C-5C27-B2D317467B6D}"/>
              </a:ext>
            </a:extLst>
          </p:cNvPr>
          <p:cNvSpPr/>
          <p:nvPr/>
        </p:nvSpPr>
        <p:spPr>
          <a:xfrm>
            <a:off x="7997483" y="4747846"/>
            <a:ext cx="1146517" cy="3886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7993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Snapshot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194992"/>
            <a:ext cx="2628230" cy="14091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2245742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Metrics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74988" y="2608957"/>
            <a:ext cx="56347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3.9K customers • $59.76 avg purchase • 3.75 avg review rating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474988" y="2977530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 &amp; Revenue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474988" y="3340745"/>
            <a:ext cx="56347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Young Adults $62K • Middle‑Age $59K • Adults $56K • Senior $56K</a:t>
            </a:r>
            <a:endParaRPr lang="en-US" sz="1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17266A-AFEC-8A7F-B012-2AE4BE83915C}"/>
              </a:ext>
            </a:extLst>
          </p:cNvPr>
          <p:cNvSpPr/>
          <p:nvPr/>
        </p:nvSpPr>
        <p:spPr>
          <a:xfrm>
            <a:off x="8039686" y="4740812"/>
            <a:ext cx="1104314" cy="3956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6106"/>
            <a:ext cx="4722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 &amp; Conclusion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496119" y="1393552"/>
            <a:ext cx="4722763" cy="748085"/>
          </a:xfrm>
          <a:prstGeom prst="roundRect">
            <a:avLst>
              <a:gd name="adj" fmla="val 15723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1552" y="1528986"/>
            <a:ext cx="44518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Boost Subscriptions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31552" y="1805360"/>
            <a:ext cx="44518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Promote exclusive subscriber benefits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6119" y="2262113"/>
            <a:ext cx="4722763" cy="748085"/>
          </a:xfrm>
          <a:prstGeom prst="roundRect">
            <a:avLst>
              <a:gd name="adj" fmla="val 15723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1552" y="2397547"/>
            <a:ext cx="44518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Loyalty Programs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31552" y="2673921"/>
            <a:ext cx="44518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Reward repeat buyers to increase retention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96119" y="3130674"/>
            <a:ext cx="4722763" cy="748085"/>
          </a:xfrm>
          <a:prstGeom prst="roundRect">
            <a:avLst>
              <a:gd name="adj" fmla="val 15723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1552" y="3266108"/>
            <a:ext cx="44518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 Policy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31552" y="3542481"/>
            <a:ext cx="44518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Review discounts to protect margins while driving sales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96119" y="3999235"/>
            <a:ext cx="4722763" cy="748085"/>
          </a:xfrm>
          <a:prstGeom prst="roundRect">
            <a:avLst>
              <a:gd name="adj" fmla="val 15723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1552" y="4134669"/>
            <a:ext cx="44518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Targeted Marketing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31552" y="4411042"/>
            <a:ext cx="44518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Focus on high‑revenue age groups and express-shipping users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357</Words>
  <Application>Microsoft Office PowerPoint</Application>
  <PresentationFormat>On-screen Show (16:9)</PresentationFormat>
  <Paragraphs>79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Manrope</vt:lpstr>
      <vt:lpstr>Inter Light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abhijitbhoi45@outlook.com</cp:lastModifiedBy>
  <cp:revision>2</cp:revision>
  <dcterms:created xsi:type="dcterms:W3CDTF">2026-07-30T09:58:33Z</dcterms:created>
  <dcterms:modified xsi:type="dcterms:W3CDTF">2026-07-30T10:02:58Z</dcterms:modified>
</cp:coreProperties>
</file>